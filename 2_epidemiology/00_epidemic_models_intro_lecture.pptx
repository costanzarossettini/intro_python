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1675"/>
  <p:notesSz cx="6858000" cy="12191675"/>
  <p:embeddedFontLst>
    <p:embeddedFont>
      <p:font typeface="Roboto"/>
      <p:regular r:id="rId27"/>
      <p:bold r:id="rId28"/>
      <p:italic r:id="rId29"/>
      <p:boldItalic r:id="rId30"/>
    </p:embeddedFont>
    <p:embeddedFont>
      <p:font typeface="Roboto Medium"/>
      <p:regular r:id="rId31"/>
      <p:bold r:id="rId32"/>
      <p:italic r:id="rId33"/>
      <p:boldItalic r:id="rId34"/>
    </p:embeddedFont>
    <p:embeddedFont>
      <p:font typeface="Cambria Math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gBRqrjfe0c9zdCYLYy79UduVvy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edium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33" Type="http://schemas.openxmlformats.org/officeDocument/2006/relationships/font" Target="fonts/RobotoMedium-italic.fntdata"/><Relationship Id="rId10" Type="http://schemas.openxmlformats.org/officeDocument/2006/relationships/slide" Target="slides/slide6.xml"/><Relationship Id="rId32" Type="http://schemas.openxmlformats.org/officeDocument/2006/relationships/font" Target="fonts/RobotoMedium-bold.fntdata"/><Relationship Id="rId13" Type="http://schemas.openxmlformats.org/officeDocument/2006/relationships/slide" Target="slides/slide9.xml"/><Relationship Id="rId35" Type="http://schemas.openxmlformats.org/officeDocument/2006/relationships/font" Target="fonts/CambriaMath-regular.fntdata"/><Relationship Id="rId12" Type="http://schemas.openxmlformats.org/officeDocument/2006/relationships/slide" Target="slides/slide8.xml"/><Relationship Id="rId34" Type="http://schemas.openxmlformats.org/officeDocument/2006/relationships/font" Target="fonts/RobotoMedium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i(t)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3</c:v>
                  </c:pt>
                  <c:pt idx="2">
                    <c:v>6</c:v>
                  </c:pt>
                  <c:pt idx="3">
                    <c:v>9</c:v>
                  </c:pt>
                  <c:pt idx="4">
                    <c:v>12</c:v>
                  </c:pt>
                  <c:pt idx="5">
                    <c:v>15</c:v>
                  </c:pt>
                  <c:pt idx="6">
                    <c:v>18</c:v>
                  </c:pt>
                  <c:pt idx="7">
                    <c:v>21</c:v>
                  </c:pt>
                  <c:pt idx="8">
                    <c:v>24</c:v>
                  </c:pt>
                  <c:pt idx="9">
                    <c:v>27</c:v>
                  </c:pt>
                  <c:pt idx="10">
                    <c:v>30</c:v>
                  </c:pt>
                  <c:pt idx="11">
                    <c:v>33</c:v>
                  </c:pt>
                  <c:pt idx="12">
                    <c:v>36</c:v>
                  </c:pt>
                  <c:pt idx="13">
                    <c:v>39</c:v>
                  </c:pt>
                  <c:pt idx="14">
                    <c:v>42</c:v>
                  </c:pt>
                  <c:pt idx="15">
                    <c:v>45</c:v>
                  </c:pt>
                  <c:pt idx="16">
                    <c:v>48</c:v>
                  </c:pt>
                  <c:pt idx="17">
                    <c:v>51</c:v>
                  </c:pt>
                  <c:pt idx="18">
                    <c:v>54</c:v>
                  </c:pt>
                  <c:pt idx="19">
                    <c:v>57</c:v>
                  </c:pt>
                  <c:pt idx="20">
                    <c:v>60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0.01</c:v>
                </c:pt>
                <c:pt idx="1">
                  <c:v>0.018</c:v>
                </c:pt>
                <c:pt idx="2">
                  <c:v>0.032</c:v>
                </c:pt>
                <c:pt idx="3">
                  <c:v>0.058</c:v>
                </c:pt>
                <c:pt idx="4">
                  <c:v>0.101</c:v>
                </c:pt>
                <c:pt idx="5">
                  <c:v>0.171</c:v>
                </c:pt>
                <c:pt idx="6">
                  <c:v>0.277</c:v>
                </c:pt>
                <c:pt idx="7">
                  <c:v>0.421</c:v>
                </c:pt>
                <c:pt idx="8">
                  <c:v>0.584</c:v>
                </c:pt>
                <c:pt idx="9">
                  <c:v>0.735</c:v>
                </c:pt>
                <c:pt idx="10">
                  <c:v>0.849</c:v>
                </c:pt>
                <c:pt idx="11">
                  <c:v>0.921</c:v>
                </c:pt>
                <c:pt idx="12">
                  <c:v>0.96</c:v>
                </c:pt>
                <c:pt idx="13">
                  <c:v>0.981</c:v>
                </c:pt>
                <c:pt idx="14">
                  <c:v>0.991</c:v>
                </c:pt>
                <c:pt idx="15">
                  <c:v>0.996</c:v>
                </c:pt>
                <c:pt idx="16">
                  <c:v>0.998</c:v>
                </c:pt>
                <c:pt idx="17">
                  <c:v>0.999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FEF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R₀ &lt; 1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4</c:v>
                  </c:pt>
                  <c:pt idx="2">
                    <c:v>8</c:v>
                  </c:pt>
                  <c:pt idx="3">
                    <c:v>12</c:v>
                  </c:pt>
                  <c:pt idx="4">
                    <c:v>16</c:v>
                  </c:pt>
                  <c:pt idx="5">
                    <c:v>20</c:v>
                  </c:pt>
                  <c:pt idx="6">
                    <c:v>24</c:v>
                  </c:pt>
                  <c:pt idx="7">
                    <c:v>28</c:v>
                  </c:pt>
                  <c:pt idx="8">
                    <c:v>32</c:v>
                  </c:pt>
                  <c:pt idx="9">
                    <c:v>36</c:v>
                  </c:pt>
                  <c:pt idx="10">
                    <c:v>40</c:v>
                  </c:pt>
                  <c:pt idx="11">
                    <c:v>44</c:v>
                  </c:pt>
                  <c:pt idx="12">
                    <c:v>48</c:v>
                  </c:pt>
                  <c:pt idx="13">
                    <c:v>52</c:v>
                  </c:pt>
                  <c:pt idx="14">
                    <c:v>56</c:v>
                  </c:pt>
                  <c:pt idx="15">
                    <c:v>60</c:v>
                  </c:pt>
                  <c:pt idx="16">
                    <c:v>64</c:v>
                  </c:pt>
                  <c:pt idx="17">
                    <c:v>68</c:v>
                  </c:pt>
                  <c:pt idx="18">
                    <c:v>72</c:v>
                  </c:pt>
                  <c:pt idx="19">
                    <c:v>76</c:v>
                  </c:pt>
                  <c:pt idx="20">
                    <c:v>80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0.02</c:v>
                </c:pt>
                <c:pt idx="1">
                  <c:v>0.017</c:v>
                </c:pt>
                <c:pt idx="2">
                  <c:v>0.014</c:v>
                </c:pt>
                <c:pt idx="3">
                  <c:v>0.012</c:v>
                </c:pt>
                <c:pt idx="4">
                  <c:v>0.01</c:v>
                </c:pt>
                <c:pt idx="5">
                  <c:v>0.009</c:v>
                </c:pt>
                <c:pt idx="6">
                  <c:v>0.007</c:v>
                </c:pt>
                <c:pt idx="7">
                  <c:v>0.006</c:v>
                </c:pt>
                <c:pt idx="8">
                  <c:v>0.005</c:v>
                </c:pt>
                <c:pt idx="9">
                  <c:v>0.004</c:v>
                </c:pt>
                <c:pt idx="10">
                  <c:v>0.004</c:v>
                </c:pt>
                <c:pt idx="11">
                  <c:v>0.003</c:v>
                </c:pt>
                <c:pt idx="12">
                  <c:v>0.003</c:v>
                </c:pt>
                <c:pt idx="13">
                  <c:v>0.002</c:v>
                </c:pt>
                <c:pt idx="14">
                  <c:v>0.002</c:v>
                </c:pt>
                <c:pt idx="15">
                  <c:v>0.002</c:v>
                </c:pt>
                <c:pt idx="16">
                  <c:v>0.001</c:v>
                </c:pt>
                <c:pt idx="17">
                  <c:v>0.001</c:v>
                </c:pt>
                <c:pt idx="18">
                  <c:v>0.001</c:v>
                </c:pt>
                <c:pt idx="19">
                  <c:v>0.001</c:v>
                </c:pt>
                <c:pt idx="20">
                  <c:v>0.001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R₀ &gt; 1</c:v>
                </c:pt>
              </c:strCache>
            </c:strRef>
          </c:tx>
          <c:spPr>
            <a:solidFill>
              <a:srgbClr val="4F81BD"/>
            </a:solidFill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4</c:v>
                  </c:pt>
                  <c:pt idx="2">
                    <c:v>8</c:v>
                  </c:pt>
                  <c:pt idx="3">
                    <c:v>12</c:v>
                  </c:pt>
                  <c:pt idx="4">
                    <c:v>16</c:v>
                  </c:pt>
                  <c:pt idx="5">
                    <c:v>20</c:v>
                  </c:pt>
                  <c:pt idx="6">
                    <c:v>24</c:v>
                  </c:pt>
                  <c:pt idx="7">
                    <c:v>28</c:v>
                  </c:pt>
                  <c:pt idx="8">
                    <c:v>32</c:v>
                  </c:pt>
                  <c:pt idx="9">
                    <c:v>36</c:v>
                  </c:pt>
                  <c:pt idx="10">
                    <c:v>40</c:v>
                  </c:pt>
                  <c:pt idx="11">
                    <c:v>44</c:v>
                  </c:pt>
                  <c:pt idx="12">
                    <c:v>48</c:v>
                  </c:pt>
                  <c:pt idx="13">
                    <c:v>52</c:v>
                  </c:pt>
                  <c:pt idx="14">
                    <c:v>56</c:v>
                  </c:pt>
                  <c:pt idx="15">
                    <c:v>60</c:v>
                  </c:pt>
                  <c:pt idx="16">
                    <c:v>64</c:v>
                  </c:pt>
                  <c:pt idx="17">
                    <c:v>68</c:v>
                  </c:pt>
                  <c:pt idx="18">
                    <c:v>72</c:v>
                  </c:pt>
                  <c:pt idx="19">
                    <c:v>76</c:v>
                  </c:pt>
                  <c:pt idx="20">
                    <c:v>80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0.02</c:v>
                </c:pt>
                <c:pt idx="1">
                  <c:v>0.033</c:v>
                </c:pt>
                <c:pt idx="2">
                  <c:v>0.054</c:v>
                </c:pt>
                <c:pt idx="3">
                  <c:v>0.086</c:v>
                </c:pt>
                <c:pt idx="4">
                  <c:v>0.132</c:v>
                </c:pt>
                <c:pt idx="5">
                  <c:v>0.193</c:v>
                </c:pt>
                <c:pt idx="6">
                  <c:v>0.265</c:v>
                </c:pt>
                <c:pt idx="7">
                  <c:v>0.339</c:v>
                </c:pt>
                <c:pt idx="8">
                  <c:v>0.405</c:v>
                </c:pt>
                <c:pt idx="9">
                  <c:v>0.455</c:v>
                </c:pt>
                <c:pt idx="10">
                  <c:v>0.489</c:v>
                </c:pt>
                <c:pt idx="11">
                  <c:v>0.51</c:v>
                </c:pt>
                <c:pt idx="12">
                  <c:v>0.522</c:v>
                </c:pt>
                <c:pt idx="13">
                  <c:v>0.53</c:v>
                </c:pt>
                <c:pt idx="14">
                  <c:v>0.534</c:v>
                </c:pt>
                <c:pt idx="15">
                  <c:v>0.536</c:v>
                </c:pt>
                <c:pt idx="16">
                  <c:v>0.537</c:v>
                </c:pt>
                <c:pt idx="17">
                  <c:v>0.538</c:v>
                </c:pt>
                <c:pt idx="18">
                  <c:v>0.538</c:v>
                </c:pt>
                <c:pt idx="19">
                  <c:v>0.538</c:v>
                </c:pt>
                <c:pt idx="20">
                  <c:v>0.538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FEF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4</c:v>
                  </c:pt>
                  <c:pt idx="2">
                    <c:v>8</c:v>
                  </c:pt>
                  <c:pt idx="3">
                    <c:v>12</c:v>
                  </c:pt>
                  <c:pt idx="4">
                    <c:v>16</c:v>
                  </c:pt>
                  <c:pt idx="5">
                    <c:v>20</c:v>
                  </c:pt>
                  <c:pt idx="6">
                    <c:v>24</c:v>
                  </c:pt>
                  <c:pt idx="7">
                    <c:v>28</c:v>
                  </c:pt>
                  <c:pt idx="8">
                    <c:v>32</c:v>
                  </c:pt>
                  <c:pt idx="9">
                    <c:v>36</c:v>
                  </c:pt>
                  <c:pt idx="10">
                    <c:v>40</c:v>
                  </c:pt>
                  <c:pt idx="11">
                    <c:v>44</c:v>
                  </c:pt>
                  <c:pt idx="12">
                    <c:v>48</c:v>
                  </c:pt>
                  <c:pt idx="13">
                    <c:v>52</c:v>
                  </c:pt>
                  <c:pt idx="14">
                    <c:v>56</c:v>
                  </c:pt>
                  <c:pt idx="15">
                    <c:v>60</c:v>
                  </c:pt>
                  <c:pt idx="16">
                    <c:v>64</c:v>
                  </c:pt>
                  <c:pt idx="17">
                    <c:v>68</c:v>
                  </c:pt>
                  <c:pt idx="18">
                    <c:v>72</c:v>
                  </c:pt>
                  <c:pt idx="19">
                    <c:v>76</c:v>
                  </c:pt>
                  <c:pt idx="20">
                    <c:v>80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0.99</c:v>
                </c:pt>
                <c:pt idx="1">
                  <c:v>0.97</c:v>
                </c:pt>
                <c:pt idx="2">
                  <c:v>0.926</c:v>
                </c:pt>
                <c:pt idx="3">
                  <c:v>0.835</c:v>
                </c:pt>
                <c:pt idx="4">
                  <c:v>0.678</c:v>
                </c:pt>
                <c:pt idx="5">
                  <c:v>0.477</c:v>
                </c:pt>
                <c:pt idx="6">
                  <c:v>0.3</c:v>
                </c:pt>
                <c:pt idx="7">
                  <c:v>0.187</c:v>
                </c:pt>
                <c:pt idx="8">
                  <c:v>0.126</c:v>
                </c:pt>
                <c:pt idx="9">
                  <c:v>0.094</c:v>
                </c:pt>
                <c:pt idx="10">
                  <c:v>0.077</c:v>
                </c:pt>
                <c:pt idx="11">
                  <c:v>0.067</c:v>
                </c:pt>
                <c:pt idx="12">
                  <c:v>0.061</c:v>
                </c:pt>
                <c:pt idx="13">
                  <c:v>0.058</c:v>
                </c:pt>
                <c:pt idx="14">
                  <c:v>0.055</c:v>
                </c:pt>
                <c:pt idx="15">
                  <c:v>0.054</c:v>
                </c:pt>
                <c:pt idx="16">
                  <c:v>0.053</c:v>
                </c:pt>
                <c:pt idx="17">
                  <c:v>0.052</c:v>
                </c:pt>
                <c:pt idx="18">
                  <c:v>0.052</c:v>
                </c:pt>
                <c:pt idx="19">
                  <c:v>0.052</c:v>
                </c:pt>
                <c:pt idx="20">
                  <c:v>0.052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</c:v>
                </c:pt>
              </c:strCache>
            </c:strRef>
          </c:tx>
          <c:spPr>
            <a:solidFill>
              <a:srgbClr val="4F81BD"/>
            </a:solidFill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4</c:v>
                  </c:pt>
                  <c:pt idx="2">
                    <c:v>8</c:v>
                  </c:pt>
                  <c:pt idx="3">
                    <c:v>12</c:v>
                  </c:pt>
                  <c:pt idx="4">
                    <c:v>16</c:v>
                  </c:pt>
                  <c:pt idx="5">
                    <c:v>20</c:v>
                  </c:pt>
                  <c:pt idx="6">
                    <c:v>24</c:v>
                  </c:pt>
                  <c:pt idx="7">
                    <c:v>28</c:v>
                  </c:pt>
                  <c:pt idx="8">
                    <c:v>32</c:v>
                  </c:pt>
                  <c:pt idx="9">
                    <c:v>36</c:v>
                  </c:pt>
                  <c:pt idx="10">
                    <c:v>40</c:v>
                  </c:pt>
                  <c:pt idx="11">
                    <c:v>44</c:v>
                  </c:pt>
                  <c:pt idx="12">
                    <c:v>48</c:v>
                  </c:pt>
                  <c:pt idx="13">
                    <c:v>52</c:v>
                  </c:pt>
                  <c:pt idx="14">
                    <c:v>56</c:v>
                  </c:pt>
                  <c:pt idx="15">
                    <c:v>60</c:v>
                  </c:pt>
                  <c:pt idx="16">
                    <c:v>64</c:v>
                  </c:pt>
                  <c:pt idx="17">
                    <c:v>68</c:v>
                  </c:pt>
                  <c:pt idx="18">
                    <c:v>72</c:v>
                  </c:pt>
                  <c:pt idx="19">
                    <c:v>76</c:v>
                  </c:pt>
                  <c:pt idx="20">
                    <c:v>80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0.01</c:v>
                </c:pt>
                <c:pt idx="1">
                  <c:v>0.023</c:v>
                </c:pt>
                <c:pt idx="2">
                  <c:v>0.052</c:v>
                </c:pt>
                <c:pt idx="3">
                  <c:v>0.109</c:v>
                </c:pt>
                <c:pt idx="4">
                  <c:v>0.198</c:v>
                </c:pt>
                <c:pt idx="5">
                  <c:v>0.287</c:v>
                </c:pt>
                <c:pt idx="6">
                  <c:v>0.318</c:v>
                </c:pt>
                <c:pt idx="7">
                  <c:v>0.283</c:v>
                </c:pt>
                <c:pt idx="8">
                  <c:v>0.219</c:v>
                </c:pt>
                <c:pt idx="9">
                  <c:v>0.157</c:v>
                </c:pt>
                <c:pt idx="10">
                  <c:v>0.108</c:v>
                </c:pt>
                <c:pt idx="11">
                  <c:v>0.073</c:v>
                </c:pt>
                <c:pt idx="12">
                  <c:v>0.049</c:v>
                </c:pt>
                <c:pt idx="13">
                  <c:v>0.032</c:v>
                </c:pt>
                <c:pt idx="14">
                  <c:v>0.021</c:v>
                </c:pt>
                <c:pt idx="15">
                  <c:v>0.014</c:v>
                </c:pt>
                <c:pt idx="16">
                  <c:v>0.009</c:v>
                </c:pt>
                <c:pt idx="17">
                  <c:v>0.006</c:v>
                </c:pt>
                <c:pt idx="18">
                  <c:v>0.004</c:v>
                </c:pt>
                <c:pt idx="19">
                  <c:v>0.003</c:v>
                </c:pt>
                <c:pt idx="20">
                  <c:v>0.002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9BBB59"/>
            </a:solidFill>
            <a:ln w="25400" cap="flat">
              <a:solidFill>
                <a:srgbClr val="9BBB5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4</c:v>
                  </c:pt>
                  <c:pt idx="2">
                    <c:v>8</c:v>
                  </c:pt>
                  <c:pt idx="3">
                    <c:v>12</c:v>
                  </c:pt>
                  <c:pt idx="4">
                    <c:v>16</c:v>
                  </c:pt>
                  <c:pt idx="5">
                    <c:v>20</c:v>
                  </c:pt>
                  <c:pt idx="6">
                    <c:v>24</c:v>
                  </c:pt>
                  <c:pt idx="7">
                    <c:v>28</c:v>
                  </c:pt>
                  <c:pt idx="8">
                    <c:v>32</c:v>
                  </c:pt>
                  <c:pt idx="9">
                    <c:v>36</c:v>
                  </c:pt>
                  <c:pt idx="10">
                    <c:v>40</c:v>
                  </c:pt>
                  <c:pt idx="11">
                    <c:v>44</c:v>
                  </c:pt>
                  <c:pt idx="12">
                    <c:v>48</c:v>
                  </c:pt>
                  <c:pt idx="13">
                    <c:v>52</c:v>
                  </c:pt>
                  <c:pt idx="14">
                    <c:v>56</c:v>
                  </c:pt>
                  <c:pt idx="15">
                    <c:v>60</c:v>
                  </c:pt>
                  <c:pt idx="16">
                    <c:v>64</c:v>
                  </c:pt>
                  <c:pt idx="17">
                    <c:v>68</c:v>
                  </c:pt>
                  <c:pt idx="18">
                    <c:v>72</c:v>
                  </c:pt>
                  <c:pt idx="19">
                    <c:v>76</c:v>
                  </c:pt>
                  <c:pt idx="20">
                    <c:v>80</c:v>
                  </c:pt>
                </c:lvl>
              </c:multiLvlStrCache>
            </c:multiLvl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0</c:v>
                </c:pt>
                <c:pt idx="1">
                  <c:v>0.007</c:v>
                </c:pt>
                <c:pt idx="2">
                  <c:v>0.022</c:v>
                </c:pt>
                <c:pt idx="3">
                  <c:v>0.056</c:v>
                </c:pt>
                <c:pt idx="4">
                  <c:v>0.124</c:v>
                </c:pt>
                <c:pt idx="5">
                  <c:v>0.236</c:v>
                </c:pt>
                <c:pt idx="6">
                  <c:v>0.382</c:v>
                </c:pt>
                <c:pt idx="7">
                  <c:v>0.53</c:v>
                </c:pt>
                <c:pt idx="8">
                  <c:v>0.655</c:v>
                </c:pt>
                <c:pt idx="9">
                  <c:v>0.748</c:v>
                </c:pt>
                <c:pt idx="10">
                  <c:v>0.815</c:v>
                </c:pt>
                <c:pt idx="11">
                  <c:v>0.86</c:v>
                </c:pt>
                <c:pt idx="12">
                  <c:v>0.89</c:v>
                </c:pt>
                <c:pt idx="13">
                  <c:v>0.91</c:v>
                </c:pt>
                <c:pt idx="14">
                  <c:v>0.924</c:v>
                </c:pt>
                <c:pt idx="15">
                  <c:v>0.932</c:v>
                </c:pt>
                <c:pt idx="16">
                  <c:v>0.938</c:v>
                </c:pt>
                <c:pt idx="17">
                  <c:v>0.942</c:v>
                </c:pt>
                <c:pt idx="18">
                  <c:v>0.944</c:v>
                </c:pt>
                <c:pt idx="19">
                  <c:v>0.946</c:v>
                </c:pt>
                <c:pt idx="20">
                  <c:v>0.947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FEF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09b77c5be6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09b77c5be6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409b77c5be6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409b77c5be6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409b77c5be6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409b77c5be6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3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" y="91440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Font typeface="Roboto Medium"/>
              <a:buNone/>
            </a:pPr>
            <a:r>
              <a:rPr b="0" i="0" lang="en-US" sz="4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Epidemic Models</a:t>
            </a:r>
            <a:endParaRPr b="0" i="0" sz="4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85800" y="1737350"/>
            <a:ext cx="10085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Theory of compartmental models</a:t>
            </a:r>
            <a:r>
              <a:rPr lang="en-US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and hints of epidemic spreading on </a:t>
            </a:r>
            <a:r>
              <a:rPr b="0" i="0" lang="en-US" sz="17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networks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4100" y="2543775"/>
            <a:ext cx="5522175" cy="36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LECTURE MAP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storyline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21792" y="1325880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One model becomes progressively richer.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777240" y="1920240"/>
            <a:ext cx="438912" cy="384048"/>
          </a:xfrm>
          <a:prstGeom prst="roundRect">
            <a:avLst>
              <a:gd fmla="val 28571" name="adj"/>
            </a:avLst>
          </a:prstGeom>
          <a:solidFill>
            <a:srgbClr val="111111"/>
          </a:solidFill>
          <a:ln cap="flat" cmpd="sng" w="12700">
            <a:solidFill>
              <a:srgbClr val="11111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832104" y="20162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Medium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435608" y="195681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2A2A2A"/>
                </a:solidFill>
                <a:latin typeface="Roboto Medium"/>
                <a:ea typeface="Roboto Medium"/>
                <a:cs typeface="Roboto Medium"/>
                <a:sym typeface="Roboto Medium"/>
              </a:rPr>
              <a:t>Exponential growth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26280" y="1920240"/>
            <a:ext cx="438912" cy="384048"/>
          </a:xfrm>
          <a:prstGeom prst="roundRect">
            <a:avLst>
              <a:gd fmla="val 28571" name="adj"/>
            </a:avLst>
          </a:prstGeom>
          <a:solidFill>
            <a:srgbClr val="111111"/>
          </a:solidFill>
          <a:ln cap="flat" cmpd="sng" w="12700">
            <a:solidFill>
              <a:srgbClr val="11111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581144" y="20162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Medium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184648" y="195681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2A2A2A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Compartment idea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275320" y="1920240"/>
            <a:ext cx="438912" cy="384048"/>
          </a:xfrm>
          <a:prstGeom prst="roundRect">
            <a:avLst>
              <a:gd fmla="val 28571" name="adj"/>
            </a:avLst>
          </a:prstGeom>
          <a:solidFill>
            <a:srgbClr val="111111"/>
          </a:solidFill>
          <a:ln cap="flat" cmpd="sng" w="12700">
            <a:solidFill>
              <a:srgbClr val="11111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8330184" y="20162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Medium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933688" y="195681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2A2A2A"/>
                </a:solidFill>
                <a:latin typeface="Roboto Medium"/>
                <a:ea typeface="Roboto Medium"/>
                <a:cs typeface="Roboto Medium"/>
                <a:sym typeface="Roboto Medium"/>
              </a:rPr>
              <a:t>SI / SIS / SIR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77240" y="3337560"/>
            <a:ext cx="438912" cy="384048"/>
          </a:xfrm>
          <a:prstGeom prst="roundRect">
            <a:avLst>
              <a:gd fmla="val 28571" name="adj"/>
            </a:avLst>
          </a:prstGeom>
          <a:solidFill>
            <a:srgbClr val="111111"/>
          </a:solidFill>
          <a:ln cap="flat" cmpd="sng" w="12700">
            <a:solidFill>
              <a:srgbClr val="11111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32104" y="343357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Medium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435608" y="337413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2A2A2A"/>
                </a:solidFill>
                <a:latin typeface="Roboto Medium"/>
                <a:ea typeface="Roboto Medium"/>
                <a:cs typeface="Roboto Medium"/>
                <a:sym typeface="Roboto Medium"/>
              </a:rPr>
              <a:t>R₀ and thresholds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26280" y="3337560"/>
            <a:ext cx="438912" cy="384048"/>
          </a:xfrm>
          <a:prstGeom prst="roundRect">
            <a:avLst>
              <a:gd fmla="val 28571" name="adj"/>
            </a:avLst>
          </a:prstGeom>
          <a:solidFill>
            <a:srgbClr val="111111"/>
          </a:solidFill>
          <a:ln cap="flat" cmpd="sng" w="12700">
            <a:solidFill>
              <a:srgbClr val="11111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581144" y="343357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Medium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184648" y="337413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2A2A2A"/>
                </a:solidFill>
                <a:latin typeface="Roboto Medium"/>
                <a:ea typeface="Roboto Medium"/>
                <a:cs typeface="Roboto Medium"/>
                <a:sym typeface="Roboto Medium"/>
              </a:rPr>
              <a:t>Vaccination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275320" y="3337560"/>
            <a:ext cx="438912" cy="384048"/>
          </a:xfrm>
          <a:prstGeom prst="roundRect">
            <a:avLst>
              <a:gd fmla="val 28571" name="adj"/>
            </a:avLst>
          </a:prstGeom>
          <a:solidFill>
            <a:srgbClr val="111111"/>
          </a:solidFill>
          <a:ln cap="flat" cmpd="sng" w="12700">
            <a:solidFill>
              <a:srgbClr val="11111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330184" y="343357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Medium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933688" y="337413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2A2A2A"/>
                </a:solidFill>
                <a:latin typeface="Roboto Medium"/>
                <a:ea typeface="Roboto Medium"/>
                <a:cs typeface="Roboto Medium"/>
                <a:sym typeface="Roboto Medium"/>
              </a:rPr>
              <a:t>Networks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77240" y="5166360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Goal: understand what changes the curve: transmission, recovery, susceptibility and contact structure.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WHAT MAKES AN EPIDEMIC?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3 ingredients of an epidemic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868680" y="352044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Disease natural history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868680" y="39319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pathogen + immune response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023360" y="23317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Roboto Medium"/>
              <a:buNone/>
            </a:pPr>
            <a:r>
              <a:rPr b="0" i="0" lang="en-US" sz="26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+</a:t>
            </a:r>
            <a:endParaRPr b="0" i="0" sz="2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617720" y="352044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Transmission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617720" y="39319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infection moves between people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772400" y="23317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Roboto Medium"/>
              <a:buNone/>
            </a:pPr>
            <a:r>
              <a:rPr b="0" i="0" lang="en-US" sz="26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+</a:t>
            </a:r>
            <a:endParaRPr b="0" i="0" sz="2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366760" y="352044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Contact patterns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366760" y="39319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who meets whom, when, where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68680" y="4983480"/>
            <a:ext cx="10241280" cy="685800"/>
          </a:xfrm>
          <a:prstGeom prst="roundRect">
            <a:avLst>
              <a:gd fmla="val 10667" name="adj"/>
            </a:avLst>
          </a:prstGeom>
          <a:solidFill>
            <a:srgbClr val="F5F5F3"/>
          </a:solidFill>
          <a:ln cap="flat" cmpd="sng" w="12700">
            <a:solidFill>
              <a:srgbClr val="F5F5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1033272" y="5148072"/>
            <a:ext cx="99120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Compartmental models compress these ingredients into states and transition rates.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275" y="1876285"/>
            <a:ext cx="1908347" cy="118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5100" y="1867849"/>
            <a:ext cx="1666875" cy="120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87320" y="1806897"/>
            <a:ext cx="1666875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COMPARTMENTS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A model as flows between states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21792" y="1325880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Individuals occupy a compartment; equations describe how fast they move.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4"/>
          <p:cNvCxnSpPr/>
          <p:nvPr/>
        </p:nvCxnSpPr>
        <p:spPr>
          <a:xfrm>
            <a:off x="2084832" y="2633472"/>
            <a:ext cx="1499616" cy="0"/>
          </a:xfrm>
          <a:prstGeom prst="straightConnector1">
            <a:avLst/>
          </a:prstGeom>
          <a:noFill/>
          <a:ln cap="flat" cmpd="sng" w="17775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" name="Google Shape;78;p4"/>
          <p:cNvCxnSpPr/>
          <p:nvPr/>
        </p:nvCxnSpPr>
        <p:spPr>
          <a:xfrm>
            <a:off x="4325112" y="2633472"/>
            <a:ext cx="1499616" cy="0"/>
          </a:xfrm>
          <a:prstGeom prst="straightConnector1">
            <a:avLst/>
          </a:prstGeom>
          <a:noFill/>
          <a:ln cap="flat" cmpd="sng" w="17775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" name="Google Shape;79;p4"/>
          <p:cNvSpPr/>
          <p:nvPr/>
        </p:nvSpPr>
        <p:spPr>
          <a:xfrm>
            <a:off x="1325880" y="2240280"/>
            <a:ext cx="777240" cy="77724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1325880" y="244144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566160" y="2240280"/>
            <a:ext cx="777240" cy="777240"/>
          </a:xfrm>
          <a:prstGeom prst="ellipse">
            <a:avLst/>
          </a:prstGeom>
          <a:solidFill>
            <a:srgbClr val="D94B3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566160" y="244144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I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806440" y="2240280"/>
            <a:ext cx="777240" cy="777240"/>
          </a:xfrm>
          <a:prstGeom prst="ellipse">
            <a:avLst/>
          </a:prstGeom>
          <a:solidFill>
            <a:srgbClr val="666A7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5806440" y="244144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R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051560" y="31272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susceptible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291840" y="31272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infectious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486400" y="312724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removed / recovered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909560" y="20574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State variables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7909560" y="248716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900"/>
              <a:buFont typeface="Roboto"/>
              <a:buNone/>
            </a:pPr>
            <a:r>
              <a:rPr b="0" i="0" lang="en-US" sz="19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S(t), I(t), R(t)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909560" y="31546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Transition rates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7909560" y="358444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β: infection*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γ or μ: recovery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914400" y="4892040"/>
            <a:ext cx="9875520" cy="685800"/>
          </a:xfrm>
          <a:prstGeom prst="roundRect">
            <a:avLst>
              <a:gd fmla="val 10667" name="adj"/>
            </a:avLst>
          </a:prstGeom>
          <a:solidFill>
            <a:srgbClr val="F5F5F3"/>
          </a:solidFill>
          <a:ln cap="flat" cmpd="sng" w="12700">
            <a:solidFill>
              <a:srgbClr val="F5F5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1078992" y="5056632"/>
            <a:ext cx="95463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Think of ODEs as bookkeeping: “how much leaves one compartment must enter another.”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470550" y="6119575"/>
            <a:ext cx="110508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*if a susceptible enter in contact with an infectious individual he can contract the infection with a probability β per unit time</a:t>
            </a:r>
            <a:endParaRPr/>
          </a:p>
        </p:txBody>
      </p:sp>
      <p:cxnSp>
        <p:nvCxnSpPr>
          <p:cNvPr id="95" name="Google Shape;95;p4"/>
          <p:cNvCxnSpPr/>
          <p:nvPr/>
        </p:nvCxnSpPr>
        <p:spPr>
          <a:xfrm>
            <a:off x="509560" y="6048577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MASS ACTION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key modelling assumption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21792" y="1325880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oboto"/>
              <a:buNone/>
            </a:pPr>
            <a:r>
              <a:rPr b="0" i="0" lang="en-US" sz="1400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Homogeneous mixing:</a:t>
            </a:r>
            <a:r>
              <a:rPr b="0" i="0" lang="en-US" sz="14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everyone has the same average chance to meet everyone else.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891790" y="2758000"/>
            <a:ext cx="109800" cy="109800"/>
          </a:xfrm>
          <a:prstGeom prst="ellipse">
            <a:avLst/>
          </a:prstGeom>
          <a:solidFill>
            <a:srgbClr val="D94B3D"/>
          </a:solidFill>
          <a:ln cap="flat" cmpd="sng" w="12700">
            <a:solidFill>
              <a:srgbClr val="D94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10863133" y="2910605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10778597" y="3055557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10642423" y="3185589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10461439" y="3294180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10244719" y="3375884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10003131" y="3426606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9748790" y="3443800"/>
            <a:ext cx="109800" cy="109800"/>
          </a:xfrm>
          <a:prstGeom prst="ellipse">
            <a:avLst/>
          </a:prstGeom>
          <a:solidFill>
            <a:srgbClr val="D94B3D"/>
          </a:solidFill>
          <a:ln cap="flat" cmpd="sng" w="12700">
            <a:solidFill>
              <a:srgbClr val="D94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9494449" y="3426606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9252861" y="3375884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9036141" y="3294180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8855157" y="3185589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8718983" y="3055557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8634447" y="2910605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8605790" y="2758000"/>
            <a:ext cx="109800" cy="109800"/>
          </a:xfrm>
          <a:prstGeom prst="ellipse">
            <a:avLst/>
          </a:prstGeom>
          <a:solidFill>
            <a:srgbClr val="D94B3D"/>
          </a:solidFill>
          <a:ln cap="flat" cmpd="sng" w="12700">
            <a:solidFill>
              <a:srgbClr val="D94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8634447" y="2605395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8718983" y="2460443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8855157" y="2330411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9036141" y="2221820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9252861" y="2140116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9494449" y="2089394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9748790" y="2072200"/>
            <a:ext cx="109800" cy="109800"/>
          </a:xfrm>
          <a:prstGeom prst="ellipse">
            <a:avLst/>
          </a:prstGeom>
          <a:solidFill>
            <a:srgbClr val="D94B3D"/>
          </a:solidFill>
          <a:ln cap="flat" cmpd="sng" w="12700">
            <a:solidFill>
              <a:srgbClr val="D94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10003131" y="2089394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10244719" y="2140116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10461439" y="2221820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10642423" y="2330411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10778597" y="2460443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10863133" y="2605395"/>
            <a:ext cx="109800" cy="10980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594350" y="2038175"/>
            <a:ext cx="6615300" cy="22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Homogeneous mixing</a:t>
            </a:r>
            <a:endParaRPr sz="1900">
              <a:solidFill>
                <a:srgbClr val="2A2A2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900"/>
              <a:buFont typeface="Roboto"/>
              <a:buChar char="●"/>
            </a:pPr>
            <a:r>
              <a:rPr lang="en-US" sz="1900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All individuals behave equally</a:t>
            </a:r>
            <a:endParaRPr sz="1900">
              <a:solidFill>
                <a:srgbClr val="2A2A2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900"/>
              <a:buFont typeface="Roboto"/>
              <a:buChar char="●"/>
            </a:pPr>
            <a:r>
              <a:rPr lang="en-US" sz="1900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All individuals have the same number of contacts ⟨k⟩ (no social structure)</a:t>
            </a:r>
            <a:endParaRPr sz="1900">
              <a:solidFill>
                <a:srgbClr val="2A2A2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900"/>
              <a:buFont typeface="Roboto"/>
              <a:buNone/>
            </a:pPr>
            <a:r>
              <a:rPr lang="en-US" sz="1900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Unrealistic, especially for large populations (i.e.regions/countries) but easier math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SI MODEL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SI: infection without recovery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" name="Google Shape;142;p6"/>
          <p:cNvCxnSpPr/>
          <p:nvPr/>
        </p:nvCxnSpPr>
        <p:spPr>
          <a:xfrm>
            <a:off x="2039112" y="2404872"/>
            <a:ext cx="1271016" cy="0"/>
          </a:xfrm>
          <a:prstGeom prst="straightConnector1">
            <a:avLst/>
          </a:prstGeom>
          <a:noFill/>
          <a:ln cap="flat" cmpd="sng" w="17775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3" name="Google Shape;143;p6"/>
          <p:cNvSpPr/>
          <p:nvPr/>
        </p:nvSpPr>
        <p:spPr>
          <a:xfrm>
            <a:off x="1280160" y="2011680"/>
            <a:ext cx="777240" cy="77724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280160" y="221284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3291840" y="2011680"/>
            <a:ext cx="777240" cy="777240"/>
          </a:xfrm>
          <a:prstGeom prst="ellipse">
            <a:avLst/>
          </a:prstGeom>
          <a:solidFill>
            <a:srgbClr val="D94B3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3291840" y="221284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I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68680" y="37490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Use case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68680" y="416052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Chronic infections or early epidemic approximation.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464490" y="2363610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Cambria Math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Cambria Math"/>
                <a:ea typeface="Cambria Math"/>
                <a:cs typeface="Cambria Math"/>
                <a:sym typeface="Cambria Math"/>
              </a:rPr>
              <a:t>dS/dt = −β S I / N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464490" y="2912250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Cambria Math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Cambria Math"/>
                <a:ea typeface="Cambria Math"/>
                <a:cs typeface="Cambria Math"/>
                <a:sym typeface="Cambria Math"/>
              </a:rPr>
              <a:t>dI/dt =  β S I / N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281610" y="4146690"/>
            <a:ext cx="4480500" cy="822900"/>
          </a:xfrm>
          <a:prstGeom prst="roundRect">
            <a:avLst>
              <a:gd fmla="val 8889" name="adj"/>
            </a:avLst>
          </a:prstGeom>
          <a:solidFill>
            <a:srgbClr val="F5F5F3"/>
          </a:solidFill>
          <a:ln cap="flat" cmpd="sng" w="12700">
            <a:solidFill>
              <a:srgbClr val="F5F5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6446202" y="4311282"/>
            <a:ext cx="4151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No one leaves I, so the epidemic saturates only when susceptibles are exhausted.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3" name="Google Shape;15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4500" y="1586350"/>
            <a:ext cx="2088413" cy="54865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SI DYNAMICS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" name="Google Shape;161;p7"/>
          <p:cNvCxnSpPr/>
          <p:nvPr/>
        </p:nvCxnSpPr>
        <p:spPr>
          <a:xfrm>
            <a:off x="594360" y="6473952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7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SI produces a sigmoid curve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3" name="Google Shape;163;p7"/>
          <p:cNvGraphicFramePr/>
          <p:nvPr/>
        </p:nvGraphicFramePr>
        <p:xfrm>
          <a:off x="777240" y="1920240"/>
          <a:ext cx="5120640" cy="32461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64" name="Google Shape;164;p7"/>
          <p:cNvSpPr/>
          <p:nvPr/>
        </p:nvSpPr>
        <p:spPr>
          <a:xfrm>
            <a:off x="777240" y="1691640"/>
            <a:ext cx="5120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Fraction infected in SI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720840" y="20116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Early phase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720840" y="242316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almost exponential growth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6720840" y="31546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Late phase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720840" y="356616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growth slows because few susceptible remain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720840" y="461772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ambria Math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Cambria Math"/>
                <a:ea typeface="Cambria Math"/>
                <a:cs typeface="Cambria Math"/>
                <a:sym typeface="Cambria Math"/>
              </a:rPr>
              <a:t>i(t) = i₀ e^{βt} / (1 − i₀ + i₀ e^{βt})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409b77c5be6_0_25"/>
          <p:cNvSpPr txBox="1"/>
          <p:nvPr/>
        </p:nvSpPr>
        <p:spPr>
          <a:xfrm>
            <a:off x="887775" y="1720500"/>
            <a:ext cx="4807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Initialize: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S = initial susceptible population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I = initial infected population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N = S + I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beta = infection rate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dt = time step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For each time step: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new_infections = beta * S * I / N * dt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S = S - new_infections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I = I + new_infections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record S, I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6" name="Google Shape;176;g409b77c5be6_0_25"/>
          <p:cNvSpPr/>
          <p:nvPr/>
        </p:nvSpPr>
        <p:spPr>
          <a:xfrm>
            <a:off x="594360" y="685800"/>
            <a:ext cx="10698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SI p</a:t>
            </a:r>
            <a:r>
              <a:rPr lang="en-US" sz="3000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seudocode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SIS MODEL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" name="Google Shape;184;p8"/>
          <p:cNvCxnSpPr/>
          <p:nvPr/>
        </p:nvCxnSpPr>
        <p:spPr>
          <a:xfrm>
            <a:off x="594360" y="6473952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8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SIS: recovery without immunity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" name="Google Shape;186;p8"/>
          <p:cNvCxnSpPr/>
          <p:nvPr/>
        </p:nvCxnSpPr>
        <p:spPr>
          <a:xfrm>
            <a:off x="1691640" y="2487168"/>
            <a:ext cx="1216152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" name="Google Shape;187;p8"/>
          <p:cNvCxnSpPr/>
          <p:nvPr/>
        </p:nvCxnSpPr>
        <p:spPr>
          <a:xfrm rot="10800000">
            <a:off x="1755648" y="2880360"/>
            <a:ext cx="1216152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8" name="Google Shape;188;p8"/>
          <p:cNvSpPr/>
          <p:nvPr/>
        </p:nvSpPr>
        <p:spPr>
          <a:xfrm>
            <a:off x="960120" y="2148840"/>
            <a:ext cx="777240" cy="77724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960120" y="235000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3063240" y="2148840"/>
            <a:ext cx="777240" cy="777240"/>
          </a:xfrm>
          <a:prstGeom prst="ellipse">
            <a:avLst/>
          </a:prstGeom>
          <a:solidFill>
            <a:srgbClr val="D94B3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3063240" y="235000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I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1965960" y="205740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infection β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965960" y="303580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recovery μ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868680" y="39319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Interpretation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68680" y="43434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Individuals can be infected repeatedly. Useful for diseases without long-lasting immunity.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6649440" y="2299715"/>
            <a:ext cx="347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mbria Math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Cambria Math"/>
                <a:ea typeface="Cambria Math"/>
                <a:cs typeface="Cambria Math"/>
                <a:sym typeface="Cambria Math"/>
              </a:rPr>
              <a:t>di/dt = β s i − μ i</a:t>
            </a:r>
            <a:endParaRPr b="0" i="0" sz="2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6649440" y="3076955"/>
            <a:ext cx="274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mbria Math"/>
              <a:buNone/>
            </a:pPr>
            <a:r>
              <a:rPr b="0" i="0" lang="en-US" sz="2200" u="none" cap="none" strike="noStrike">
                <a:solidFill>
                  <a:srgbClr val="111111"/>
                </a:solidFill>
                <a:latin typeface="Cambria Math"/>
                <a:ea typeface="Cambria Math"/>
                <a:cs typeface="Cambria Math"/>
                <a:sym typeface="Cambria Math"/>
              </a:rPr>
              <a:t>R₀ = β / μ</a:t>
            </a:r>
            <a:endParaRPr b="0" i="0" sz="2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512280" y="4174235"/>
            <a:ext cx="4343400" cy="731400"/>
          </a:xfrm>
          <a:prstGeom prst="roundRect">
            <a:avLst>
              <a:gd fmla="val 10000" name="adj"/>
            </a:avLst>
          </a:prstGeom>
          <a:solidFill>
            <a:srgbClr val="F5F5F3"/>
          </a:solidFill>
          <a:ln cap="flat" cmpd="sng" w="12700">
            <a:solidFill>
              <a:srgbClr val="F5F5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6676872" y="4338827"/>
            <a:ext cx="4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If R₀ &gt; 1, infection can persist at endemic equilibrium.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0" name="Google Shape;20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6875" y="1280150"/>
            <a:ext cx="3082099" cy="777225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SIS THRESHOLD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SIS has an epidemic threshold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09" name="Google Shape;209;p9"/>
          <p:cNvGraphicFramePr/>
          <p:nvPr/>
        </p:nvGraphicFramePr>
        <p:xfrm>
          <a:off x="795203" y="2031489"/>
          <a:ext cx="3735000" cy="23034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10" name="Google Shape;210;p9"/>
          <p:cNvSpPr/>
          <p:nvPr/>
        </p:nvSpPr>
        <p:spPr>
          <a:xfrm>
            <a:off x="795200" y="1774341"/>
            <a:ext cx="3735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13"/>
              <a:buFont typeface="Roboto"/>
              <a:buNone/>
            </a:pPr>
            <a:r>
              <a:rPr b="0" i="0" lang="en-US" sz="1013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Below vs above threshold</a:t>
            </a:r>
            <a:endParaRPr b="0" i="0" sz="1013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340365" y="203151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Disease-free state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5340365" y="244299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infection dies out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340365" y="331167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Endemic state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5340365" y="3723150"/>
            <a:ext cx="3566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new infections balance recoveries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5111765" y="5657195"/>
            <a:ext cx="320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300"/>
              <a:buFont typeface="Cambria Math"/>
              <a:buNone/>
            </a:pPr>
            <a:r>
              <a:rPr b="0" i="0" lang="en-US" sz="2300" u="none" cap="none" strike="noStrike">
                <a:solidFill>
                  <a:srgbClr val="111111"/>
                </a:solidFill>
                <a:latin typeface="Cambria Math"/>
                <a:ea typeface="Cambria Math"/>
                <a:cs typeface="Cambria Math"/>
                <a:sym typeface="Cambria Math"/>
              </a:rPr>
              <a:t>i* = 1 − 1/R₀</a:t>
            </a:r>
            <a:endParaRPr b="0" i="0" sz="2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498300" y="1208750"/>
            <a:ext cx="8877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Epidemic threshold= minimum value of the infection probability for which the disease survives</a:t>
            </a:r>
            <a:endParaRPr/>
          </a:p>
        </p:txBody>
      </p:sp>
      <p:pic>
        <p:nvPicPr>
          <p:cNvPr id="217" name="Google Shape;21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2200" y="4334898"/>
            <a:ext cx="3638001" cy="1916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92590" y="2031500"/>
            <a:ext cx="2000250" cy="126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/>
          <p:nvPr/>
        </p:nvSpPr>
        <p:spPr>
          <a:xfrm>
            <a:off x="9829100" y="1458800"/>
            <a:ext cx="684300" cy="7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11091200" y="1600200"/>
            <a:ext cx="684300" cy="7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69251" y="4646570"/>
            <a:ext cx="5286375" cy="809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9"/>
          <p:cNvCxnSpPr/>
          <p:nvPr/>
        </p:nvCxnSpPr>
        <p:spPr>
          <a:xfrm>
            <a:off x="320060" y="4445577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EFFECTIVE R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0" name="Google Shape;230;p13"/>
          <p:cNvCxnSpPr/>
          <p:nvPr/>
        </p:nvCxnSpPr>
        <p:spPr>
          <a:xfrm>
            <a:off x="594360" y="6473952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13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Rₜ decreases as susceptibles are depleted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868680" y="205740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00"/>
              <a:buFont typeface="Cambria Math"/>
              <a:buNone/>
            </a:pPr>
            <a:r>
              <a:rPr b="0" i="0" lang="en-US" sz="3200" u="none" cap="none" strike="noStrike">
                <a:solidFill>
                  <a:srgbClr val="111111"/>
                </a:solidFill>
                <a:latin typeface="Cambria Math"/>
                <a:ea typeface="Cambria Math"/>
                <a:cs typeface="Cambria Math"/>
                <a:sym typeface="Cambria Math"/>
              </a:rPr>
              <a:t>Rₜ = R₀ · S(t)/N</a:t>
            </a:r>
            <a:endParaRPr b="0" i="0" sz="3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6400800" y="1874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Roboto Medium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Early epidemic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6400800" y="23317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S/N ≈ 1, so Rₜ ≈ R₀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6400800" y="31546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Roboto Medium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Later epidemic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6400800" y="36118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S/N falls, so Rₜ falls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868680" y="4663440"/>
            <a:ext cx="9692640" cy="685800"/>
          </a:xfrm>
          <a:prstGeom prst="roundRect">
            <a:avLst>
              <a:gd fmla="val 10667" name="adj"/>
            </a:avLst>
          </a:prstGeom>
          <a:solidFill>
            <a:srgbClr val="F5F5F3"/>
          </a:solidFill>
          <a:ln cap="flat" cmpd="sng" w="12700">
            <a:solidFill>
              <a:srgbClr val="F5F5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1033272" y="4828032"/>
            <a:ext cx="93634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A wave turns around when Rₜ crosses below 1.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409b77c5be6_0_33"/>
          <p:cNvSpPr txBox="1"/>
          <p:nvPr/>
        </p:nvSpPr>
        <p:spPr>
          <a:xfrm>
            <a:off x="961750" y="1525850"/>
            <a:ext cx="56676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Initialize: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S = initial susceptible population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I = initial infected population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R = initial recovered population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N = S + I + R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beta = infection rate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gamma = recovery rate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dt = time step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For each time step: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new_infections = beta * S * I / N * dt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new_recoveries = gamma * I * dt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S = S - new_infections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I = I + new_infections - new_recoveries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R = R + new_recoveries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record S, I, R</a:t>
            </a:r>
            <a:endParaRPr/>
          </a:p>
        </p:txBody>
      </p:sp>
      <p:sp>
        <p:nvSpPr>
          <p:cNvPr id="245" name="Google Shape;245;g409b77c5be6_0_33"/>
          <p:cNvSpPr/>
          <p:nvPr/>
        </p:nvSpPr>
        <p:spPr>
          <a:xfrm>
            <a:off x="594360" y="685800"/>
            <a:ext cx="10698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SIR p</a:t>
            </a:r>
            <a:r>
              <a:rPr lang="en-US" sz="3000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seudocode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SIR MODEL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SIR: recovery with immunity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4" name="Google Shape;254;p10"/>
          <p:cNvCxnSpPr/>
          <p:nvPr/>
        </p:nvCxnSpPr>
        <p:spPr>
          <a:xfrm>
            <a:off x="1901952" y="2404872"/>
            <a:ext cx="1271016" cy="0"/>
          </a:xfrm>
          <a:prstGeom prst="straightConnector1">
            <a:avLst/>
          </a:prstGeom>
          <a:noFill/>
          <a:ln cap="flat" cmpd="sng" w="17775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" name="Google Shape;255;p10"/>
          <p:cNvCxnSpPr/>
          <p:nvPr/>
        </p:nvCxnSpPr>
        <p:spPr>
          <a:xfrm>
            <a:off x="3913632" y="2404872"/>
            <a:ext cx="1271016" cy="0"/>
          </a:xfrm>
          <a:prstGeom prst="straightConnector1">
            <a:avLst/>
          </a:prstGeom>
          <a:noFill/>
          <a:ln cap="flat" cmpd="sng" w="17775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6" name="Google Shape;256;p10"/>
          <p:cNvSpPr/>
          <p:nvPr/>
        </p:nvSpPr>
        <p:spPr>
          <a:xfrm>
            <a:off x="1143000" y="2011680"/>
            <a:ext cx="777240" cy="77724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1143000" y="221284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3154680" y="2011680"/>
            <a:ext cx="777240" cy="777240"/>
          </a:xfrm>
          <a:prstGeom prst="ellipse">
            <a:avLst/>
          </a:prstGeom>
          <a:solidFill>
            <a:srgbClr val="D94B3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3154680" y="221284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I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5166360" y="2011680"/>
            <a:ext cx="777240" cy="777240"/>
          </a:xfrm>
          <a:prstGeom prst="ellipse">
            <a:avLst/>
          </a:prstGeom>
          <a:solidFill>
            <a:srgbClr val="666A7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5166360" y="221284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R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2011680" y="18745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infection β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023360" y="18745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recovery γ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868680" y="37033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Basic model for epidemic waves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868680" y="411480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Infection gives long-lasting immunity relative to the infectious period.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492240" y="182880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ambria Math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Cambria Math"/>
                <a:ea typeface="Cambria Math"/>
                <a:cs typeface="Cambria Math"/>
                <a:sym typeface="Cambria Math"/>
              </a:rPr>
              <a:t>dS/dt = −β S I / N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492240" y="2331720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ambria Math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Cambria Math"/>
                <a:ea typeface="Cambria Math"/>
                <a:cs typeface="Cambria Math"/>
                <a:sym typeface="Cambria Math"/>
              </a:rPr>
              <a:t>dI/dt =  β S I / N − γ I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6492240" y="283464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Cambria Math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Cambria Math"/>
                <a:ea typeface="Cambria Math"/>
                <a:cs typeface="Cambria Math"/>
                <a:sym typeface="Cambria Math"/>
              </a:rPr>
              <a:t>dR/dt =  γ I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6355080" y="3886200"/>
            <a:ext cx="4389120" cy="640080"/>
          </a:xfrm>
          <a:prstGeom prst="roundRect">
            <a:avLst>
              <a:gd fmla="val 11429" name="adj"/>
            </a:avLst>
          </a:prstGeom>
          <a:solidFill>
            <a:srgbClr val="F5F5F3"/>
          </a:solidFill>
          <a:ln cap="flat" cmpd="sng" w="12700">
            <a:solidFill>
              <a:srgbClr val="F5F5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6519672" y="4050792"/>
            <a:ext cx="4059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The population is closed: S + I + R = N.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10"/>
          <p:cNvSpPr txBox="1"/>
          <p:nvPr/>
        </p:nvSpPr>
        <p:spPr>
          <a:xfrm>
            <a:off x="527100" y="1107488"/>
            <a:ext cx="53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B7B7B7"/>
                </a:solidFill>
              </a:rPr>
              <a:t>i.e. Kermack and McKendrick model</a:t>
            </a:r>
            <a:endParaRPr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SIR DYNAMICS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11"/>
          <p:cNvCxnSpPr/>
          <p:nvPr/>
        </p:nvCxnSpPr>
        <p:spPr>
          <a:xfrm>
            <a:off x="594360" y="6473952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1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SIR creates a wave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81" name="Google Shape;281;p11"/>
          <p:cNvGraphicFramePr/>
          <p:nvPr/>
        </p:nvGraphicFramePr>
        <p:xfrm>
          <a:off x="822960" y="1737360"/>
          <a:ext cx="5852160" cy="36576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82" name="Google Shape;282;p11"/>
          <p:cNvSpPr/>
          <p:nvPr/>
        </p:nvSpPr>
        <p:spPr>
          <a:xfrm>
            <a:off x="822960" y="1508760"/>
            <a:ext cx="5852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SIR trajectories</a:t>
            </a:r>
            <a:endParaRPr b="0" i="0" sz="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7315200" y="19202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B96B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99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S decreases</a:t>
            </a:r>
            <a:endParaRPr b="0" i="0" sz="2000" u="none" cap="none" strike="noStrike">
              <a:solidFill>
                <a:srgbClr val="99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7315200" y="27432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B3D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4C78A8"/>
                </a:solidFill>
                <a:latin typeface="Roboto Medium"/>
                <a:ea typeface="Roboto Medium"/>
                <a:cs typeface="Roboto Medium"/>
                <a:sym typeface="Roboto Medium"/>
              </a:rPr>
              <a:t>I rises then falls</a:t>
            </a:r>
            <a:endParaRPr b="0" i="0" sz="2000" u="none" cap="none" strike="noStrike">
              <a:solidFill>
                <a:srgbClr val="4C78A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7315200" y="3566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A73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74B96B"/>
                </a:solidFill>
                <a:latin typeface="Roboto Medium"/>
                <a:ea typeface="Roboto Medium"/>
                <a:cs typeface="Roboto Medium"/>
                <a:sym typeface="Roboto Medium"/>
              </a:rPr>
              <a:t>R increases</a:t>
            </a:r>
            <a:endParaRPr b="0" i="0" sz="2000" u="none" cap="none" strike="noStrike">
              <a:solidFill>
                <a:srgbClr val="74B9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7132320" y="4754880"/>
            <a:ext cx="3474720" cy="640080"/>
          </a:xfrm>
          <a:prstGeom prst="roundRect">
            <a:avLst>
              <a:gd fmla="val 11429" name="adj"/>
            </a:avLst>
          </a:prstGeom>
          <a:solidFill>
            <a:srgbClr val="F5F5F3"/>
          </a:solidFill>
          <a:ln cap="flat" cmpd="sng" w="12700">
            <a:solidFill>
              <a:srgbClr val="F5F5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7296912" y="4919472"/>
            <a:ext cx="3145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The peak occurs before the epidemic is over.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SEIR MODEL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16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5" name="Google Shape;295;p16"/>
          <p:cNvCxnSpPr/>
          <p:nvPr/>
        </p:nvCxnSpPr>
        <p:spPr>
          <a:xfrm>
            <a:off x="594360" y="6473952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16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SEIR: add a latent period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7" name="Google Shape;297;p16"/>
          <p:cNvCxnSpPr/>
          <p:nvPr/>
        </p:nvCxnSpPr>
        <p:spPr>
          <a:xfrm>
            <a:off x="1627632" y="2313432"/>
            <a:ext cx="1133856" cy="0"/>
          </a:xfrm>
          <a:prstGeom prst="straightConnector1">
            <a:avLst/>
          </a:prstGeom>
          <a:noFill/>
          <a:ln cap="flat" cmpd="sng" w="17775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8" name="Google Shape;298;p16"/>
          <p:cNvCxnSpPr/>
          <p:nvPr/>
        </p:nvCxnSpPr>
        <p:spPr>
          <a:xfrm>
            <a:off x="3502152" y="2313432"/>
            <a:ext cx="1133856" cy="0"/>
          </a:xfrm>
          <a:prstGeom prst="straightConnector1">
            <a:avLst/>
          </a:prstGeom>
          <a:noFill/>
          <a:ln cap="flat" cmpd="sng" w="17775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9" name="Google Shape;299;p16"/>
          <p:cNvCxnSpPr/>
          <p:nvPr/>
        </p:nvCxnSpPr>
        <p:spPr>
          <a:xfrm>
            <a:off x="5376672" y="2313432"/>
            <a:ext cx="1133856" cy="0"/>
          </a:xfrm>
          <a:prstGeom prst="straightConnector1">
            <a:avLst/>
          </a:prstGeom>
          <a:noFill/>
          <a:ln cap="flat" cmpd="sng" w="17775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0" name="Google Shape;300;p16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868680" y="212140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2743200" y="1920240"/>
            <a:ext cx="777240" cy="777240"/>
          </a:xfrm>
          <a:prstGeom prst="ellipse">
            <a:avLst/>
          </a:prstGeom>
          <a:solidFill>
            <a:srgbClr val="F2C94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2743200" y="212140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E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4617720" y="1920240"/>
            <a:ext cx="777240" cy="777240"/>
          </a:xfrm>
          <a:prstGeom prst="ellipse">
            <a:avLst/>
          </a:prstGeom>
          <a:solidFill>
            <a:srgbClr val="D94B3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4617720" y="212140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I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6492240" y="1920240"/>
            <a:ext cx="777240" cy="777240"/>
          </a:xfrm>
          <a:prstGeom prst="ellipse">
            <a:avLst/>
          </a:prstGeom>
          <a:solidFill>
            <a:srgbClr val="666A7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6492240" y="212140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R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2423160" y="278892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exposed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not yet infectious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868680" y="38862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Cambria Math"/>
              <a:buNone/>
            </a:pPr>
            <a:r>
              <a:rPr b="0" i="0" lang="en-US" sz="2600" u="none" cap="none" strike="noStrike">
                <a:solidFill>
                  <a:srgbClr val="111111"/>
                </a:solidFill>
                <a:latin typeface="Cambria Math"/>
                <a:ea typeface="Cambria Math"/>
                <a:cs typeface="Cambria Math"/>
                <a:sym typeface="Cambria Math"/>
              </a:rPr>
              <a:t>S → E → I → R</a:t>
            </a:r>
            <a:endParaRPr b="0" i="0" sz="2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7635240" y="19202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Roboto Medium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Why add E?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7635240" y="237744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Many diseases have a delay between infection and infectiousness.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7635240" y="34747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Roboto Medium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New parameter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7635240" y="39319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σ: incubation / progression rate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INTERVENTIONS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1" name="Google Shape;321;p17"/>
          <p:cNvCxnSpPr/>
          <p:nvPr/>
        </p:nvCxnSpPr>
        <p:spPr>
          <a:xfrm>
            <a:off x="594360" y="6473952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17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Interventions change model parameters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822960" y="1828800"/>
            <a:ext cx="548640" cy="384048"/>
          </a:xfrm>
          <a:prstGeom prst="roundRect">
            <a:avLst>
              <a:gd fmla="val 28571" name="adj"/>
            </a:avLst>
          </a:prstGeom>
          <a:solidFill>
            <a:srgbClr val="111111"/>
          </a:solidFill>
          <a:ln cap="flat" cmpd="sng" w="12700">
            <a:solidFill>
              <a:srgbClr val="11111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877824" y="192481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Medium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β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1600200" y="18288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distancing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1600200" y="221284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↓ contacts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6126480" y="1828800"/>
            <a:ext cx="548640" cy="384048"/>
          </a:xfrm>
          <a:prstGeom prst="roundRect">
            <a:avLst>
              <a:gd fmla="val 28571" name="adj"/>
            </a:avLst>
          </a:prstGeom>
          <a:solidFill>
            <a:srgbClr val="111111"/>
          </a:solidFill>
          <a:ln cap="flat" cmpd="sng" w="12700">
            <a:solidFill>
              <a:srgbClr val="11111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7"/>
          <p:cNvSpPr/>
          <p:nvPr/>
        </p:nvSpPr>
        <p:spPr>
          <a:xfrm>
            <a:off x="6181344" y="192481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Medium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β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6903720" y="18288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masks / hygiene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6903720" y="221284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↓ transmission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822960" y="3154680"/>
            <a:ext cx="548640" cy="384048"/>
          </a:xfrm>
          <a:prstGeom prst="roundRect">
            <a:avLst>
              <a:gd fmla="val 28571" name="adj"/>
            </a:avLst>
          </a:prstGeom>
          <a:solidFill>
            <a:srgbClr val="111111"/>
          </a:solidFill>
          <a:ln cap="flat" cmpd="sng" w="12700">
            <a:solidFill>
              <a:srgbClr val="11111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7"/>
          <p:cNvSpPr/>
          <p:nvPr/>
        </p:nvSpPr>
        <p:spPr>
          <a:xfrm>
            <a:off x="877824" y="325069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Medium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γ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1600200" y="31546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testing + isolation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1600200" y="353872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↓ infectious time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6126480" y="3154680"/>
            <a:ext cx="548640" cy="384048"/>
          </a:xfrm>
          <a:prstGeom prst="roundRect">
            <a:avLst>
              <a:gd fmla="val 28571" name="adj"/>
            </a:avLst>
          </a:prstGeom>
          <a:solidFill>
            <a:srgbClr val="111111"/>
          </a:solidFill>
          <a:ln cap="flat" cmpd="sng" w="12700">
            <a:solidFill>
              <a:srgbClr val="11111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7"/>
          <p:cNvSpPr/>
          <p:nvPr/>
        </p:nvSpPr>
        <p:spPr>
          <a:xfrm>
            <a:off x="6181344" y="325069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Medium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γ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6903720" y="31546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treatment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6903720" y="353872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↑ recovery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868680" y="4937760"/>
            <a:ext cx="9875520" cy="685800"/>
          </a:xfrm>
          <a:prstGeom prst="roundRect">
            <a:avLst>
              <a:gd fmla="val 10667" name="adj"/>
            </a:avLst>
          </a:prstGeom>
          <a:solidFill>
            <a:srgbClr val="F5F5F3"/>
          </a:solidFill>
          <a:ln cap="flat" cmpd="sng" w="12700">
            <a:solidFill>
              <a:srgbClr val="F5F5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7"/>
          <p:cNvSpPr/>
          <p:nvPr/>
        </p:nvSpPr>
        <p:spPr>
          <a:xfrm>
            <a:off x="1033272" y="5102352"/>
            <a:ext cx="95463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In the model, “flattening the curve” means reducing Rₜ by lowering β or shortening infectiousness.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8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VACCINATION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8" name="Google Shape;348;p18"/>
          <p:cNvCxnSpPr/>
          <p:nvPr/>
        </p:nvCxnSpPr>
        <p:spPr>
          <a:xfrm>
            <a:off x="594360" y="6473952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18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Vaccination adds a protected compartment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0" name="Google Shape;350;p18"/>
          <p:cNvCxnSpPr/>
          <p:nvPr/>
        </p:nvCxnSpPr>
        <p:spPr>
          <a:xfrm>
            <a:off x="1627632" y="2450592"/>
            <a:ext cx="1225296" cy="0"/>
          </a:xfrm>
          <a:prstGeom prst="straightConnector1">
            <a:avLst/>
          </a:prstGeom>
          <a:noFill/>
          <a:ln cap="flat" cmpd="sng" w="17775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1" name="Google Shape;351;p18"/>
          <p:cNvCxnSpPr/>
          <p:nvPr/>
        </p:nvCxnSpPr>
        <p:spPr>
          <a:xfrm>
            <a:off x="3593592" y="2450592"/>
            <a:ext cx="1225296" cy="0"/>
          </a:xfrm>
          <a:prstGeom prst="straightConnector1">
            <a:avLst/>
          </a:prstGeom>
          <a:noFill/>
          <a:ln cap="flat" cmpd="sng" w="17775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2" name="Google Shape;352;p18"/>
          <p:cNvSpPr/>
          <p:nvPr/>
        </p:nvSpPr>
        <p:spPr>
          <a:xfrm>
            <a:off x="868680" y="2057400"/>
            <a:ext cx="777240" cy="777240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8"/>
          <p:cNvSpPr/>
          <p:nvPr/>
        </p:nvSpPr>
        <p:spPr>
          <a:xfrm>
            <a:off x="868680" y="225856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2834640" y="2057400"/>
            <a:ext cx="777240" cy="777240"/>
          </a:xfrm>
          <a:prstGeom prst="ellipse">
            <a:avLst/>
          </a:prstGeom>
          <a:solidFill>
            <a:srgbClr val="D94B3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8"/>
          <p:cNvSpPr/>
          <p:nvPr/>
        </p:nvSpPr>
        <p:spPr>
          <a:xfrm>
            <a:off x="2834640" y="225856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I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4800600" y="2057400"/>
            <a:ext cx="777240" cy="777240"/>
          </a:xfrm>
          <a:prstGeom prst="ellipse">
            <a:avLst/>
          </a:prstGeom>
          <a:solidFill>
            <a:srgbClr val="666A7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"/>
          <p:cNvSpPr/>
          <p:nvPr/>
        </p:nvSpPr>
        <p:spPr>
          <a:xfrm>
            <a:off x="4800600" y="225856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R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868680" y="4114800"/>
            <a:ext cx="777240" cy="777240"/>
          </a:xfrm>
          <a:prstGeom prst="ellipse">
            <a:avLst/>
          </a:prstGeom>
          <a:solidFill>
            <a:srgbClr val="4C78A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8"/>
          <p:cNvSpPr/>
          <p:nvPr/>
        </p:nvSpPr>
        <p:spPr>
          <a:xfrm>
            <a:off x="868680" y="431596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V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0" name="Google Shape;360;p18"/>
          <p:cNvCxnSpPr/>
          <p:nvPr/>
        </p:nvCxnSpPr>
        <p:spPr>
          <a:xfrm>
            <a:off x="1261872" y="2834640"/>
            <a:ext cx="0" cy="1234440"/>
          </a:xfrm>
          <a:prstGeom prst="straightConnector1">
            <a:avLst/>
          </a:prstGeom>
          <a:noFill/>
          <a:ln cap="flat" cmpd="sng" w="19050">
            <a:solidFill>
              <a:srgbClr val="4C78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1" name="Google Shape;361;p18"/>
          <p:cNvSpPr/>
          <p:nvPr/>
        </p:nvSpPr>
        <p:spPr>
          <a:xfrm>
            <a:off x="1417320" y="338328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Roboto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vaccination ν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6217920" y="1828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Roboto Medium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Main effects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6217920" y="233172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• fewer susceptible people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• lower effective reproduction number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• smaller and later epidemic peak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6217920" y="38862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300"/>
              <a:buFont typeface="Cambria Math"/>
              <a:buNone/>
            </a:pPr>
            <a:r>
              <a:rPr b="0" i="0" lang="en-US" sz="2300" u="none" cap="none" strike="noStrike">
                <a:solidFill>
                  <a:srgbClr val="111111"/>
                </a:solidFill>
                <a:latin typeface="Cambria Math"/>
                <a:ea typeface="Cambria Math"/>
                <a:cs typeface="Cambria Math"/>
                <a:sym typeface="Cambria Math"/>
              </a:rPr>
              <a:t>Rₜ = R₀ · S(t)/N</a:t>
            </a:r>
            <a:endParaRPr b="0" i="0" sz="2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0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MODEL FAMILY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2" name="Google Shape;372;p20"/>
          <p:cNvCxnSpPr/>
          <p:nvPr/>
        </p:nvCxnSpPr>
        <p:spPr>
          <a:xfrm>
            <a:off x="594360" y="6473952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p20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Same grammar, different biology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868680" y="17830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SI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1920240" y="1783080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S → I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5303520" y="1783080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no recovery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868680" y="25328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SIS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20"/>
          <p:cNvSpPr/>
          <p:nvPr/>
        </p:nvSpPr>
        <p:spPr>
          <a:xfrm>
            <a:off x="1920240" y="253288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S ↔ I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5303520" y="2532888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no long immunity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868680" y="328269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SIR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1920240" y="3282696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S → I → R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5303520" y="3282696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long immunity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868680" y="4032504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SEIR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1920240" y="4032504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S → E → I → R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5303520" y="4032504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latent period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868680" y="47823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Roboto Medium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SIRV</a:t>
            </a:r>
            <a:endParaRPr b="0"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1920240" y="4782312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S → V; S → I → R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5303520" y="4782312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vaccination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868680" y="5623560"/>
            <a:ext cx="9784080" cy="566928"/>
          </a:xfrm>
          <a:prstGeom prst="roundRect">
            <a:avLst>
              <a:gd fmla="val 12903" name="adj"/>
            </a:avLst>
          </a:prstGeom>
          <a:solidFill>
            <a:srgbClr val="F5F5F3"/>
          </a:solidFill>
          <a:ln cap="flat" cmpd="sng" w="12700">
            <a:solidFill>
              <a:srgbClr val="F5F5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0"/>
          <p:cNvSpPr/>
          <p:nvPr/>
        </p:nvSpPr>
        <p:spPr>
          <a:xfrm>
            <a:off x="1033272" y="5788152"/>
            <a:ext cx="94548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Choose the simplest model that contains the biological mechanism you need.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1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LIMITATIONS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21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8" name="Google Shape;398;p21"/>
          <p:cNvCxnSpPr/>
          <p:nvPr/>
        </p:nvCxnSpPr>
        <p:spPr>
          <a:xfrm>
            <a:off x="594360" y="6473952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p21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What classical compartmental models hide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960120" y="182880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666666"/>
                </a:solidFill>
                <a:latin typeface="Roboto Medium"/>
                <a:ea typeface="Roboto Medium"/>
                <a:cs typeface="Roboto Medium"/>
                <a:sym typeface="Roboto Medium"/>
              </a:rPr>
              <a:t>—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1325880" y="1847088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all individuals behave equally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960120" y="2395728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666666"/>
                </a:solidFill>
                <a:latin typeface="Roboto Medium"/>
                <a:ea typeface="Roboto Medium"/>
                <a:cs typeface="Roboto Medium"/>
                <a:sym typeface="Roboto Medium"/>
              </a:rPr>
              <a:t>—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1325880" y="2414016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contacts are well mixed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21"/>
          <p:cNvSpPr/>
          <p:nvPr/>
        </p:nvSpPr>
        <p:spPr>
          <a:xfrm>
            <a:off x="960120" y="29626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666666"/>
                </a:solidFill>
                <a:latin typeface="Roboto Medium"/>
                <a:ea typeface="Roboto Medium"/>
                <a:cs typeface="Roboto Medium"/>
                <a:sym typeface="Roboto Medium"/>
              </a:rPr>
              <a:t>—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1325880" y="2980944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parameters are constant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960120" y="3529584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666666"/>
                </a:solidFill>
                <a:latin typeface="Roboto Medium"/>
                <a:ea typeface="Roboto Medium"/>
                <a:cs typeface="Roboto Medium"/>
                <a:sym typeface="Roboto Medium"/>
              </a:rPr>
              <a:t>—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1325880" y="3547872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space and behavior are compressed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960120" y="4096512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666666"/>
                </a:solidFill>
                <a:latin typeface="Roboto Medium"/>
                <a:ea typeface="Roboto Medium"/>
                <a:cs typeface="Roboto Medium"/>
                <a:sym typeface="Roboto Medium"/>
              </a:rPr>
              <a:t>—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1325880" y="4114800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800"/>
              <a:buFont typeface="Roboto"/>
              <a:buNone/>
            </a:pPr>
            <a:r>
              <a:rPr b="0" i="0" lang="en-US" sz="18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data are noisy and delayed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7498080" y="2194560"/>
            <a:ext cx="3108960" cy="914400"/>
          </a:xfrm>
          <a:prstGeom prst="roundRect">
            <a:avLst>
              <a:gd fmla="val 8000" name="adj"/>
            </a:avLst>
          </a:prstGeom>
          <a:solidFill>
            <a:srgbClr val="F5F5F3"/>
          </a:solidFill>
          <a:ln cap="flat" cmpd="sng" w="12700">
            <a:solidFill>
              <a:srgbClr val="F5F5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1"/>
          <p:cNvSpPr/>
          <p:nvPr/>
        </p:nvSpPr>
        <p:spPr>
          <a:xfrm>
            <a:off x="7662672" y="2359152"/>
            <a:ext cx="27797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These assumptions are not “wrong”: they are a controlled approximation.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2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NETWORKS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9" name="Google Shape;419;p22"/>
          <p:cNvCxnSpPr/>
          <p:nvPr/>
        </p:nvCxnSpPr>
        <p:spPr>
          <a:xfrm>
            <a:off x="594360" y="6473952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0" name="Google Shape;420;p22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From homogeneous mixing to contact networks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868680" y="18288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Compartmental mean-field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868680" y="22402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everyone interacts with the average population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1097280" y="3108960"/>
            <a:ext cx="164592" cy="164592"/>
          </a:xfrm>
          <a:prstGeom prst="ellipse">
            <a:avLst/>
          </a:prstGeom>
          <a:solidFill>
            <a:srgbClr val="D94B3D"/>
          </a:solidFill>
          <a:ln cap="flat" cmpd="sng" w="12700">
            <a:solidFill>
              <a:srgbClr val="D94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2"/>
          <p:cNvSpPr/>
          <p:nvPr/>
        </p:nvSpPr>
        <p:spPr>
          <a:xfrm>
            <a:off x="1508760" y="3108960"/>
            <a:ext cx="164592" cy="164592"/>
          </a:xfrm>
          <a:prstGeom prst="ellipse">
            <a:avLst/>
          </a:prstGeom>
          <a:solidFill>
            <a:srgbClr val="D94B3D"/>
          </a:solidFill>
          <a:ln cap="flat" cmpd="sng" w="12700">
            <a:solidFill>
              <a:srgbClr val="D94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/>
          <p:nvPr/>
        </p:nvSpPr>
        <p:spPr>
          <a:xfrm>
            <a:off x="1920240" y="3108960"/>
            <a:ext cx="164592" cy="164592"/>
          </a:xfrm>
          <a:prstGeom prst="ellipse">
            <a:avLst/>
          </a:prstGeom>
          <a:solidFill>
            <a:srgbClr val="D94B3D"/>
          </a:solidFill>
          <a:ln cap="flat" cmpd="sng" w="12700">
            <a:solidFill>
              <a:srgbClr val="D94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2"/>
          <p:cNvSpPr/>
          <p:nvPr/>
        </p:nvSpPr>
        <p:spPr>
          <a:xfrm>
            <a:off x="2331720" y="3108960"/>
            <a:ext cx="164592" cy="164592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>
            <a:off x="2743200" y="3108960"/>
            <a:ext cx="164592" cy="164592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2"/>
          <p:cNvSpPr/>
          <p:nvPr/>
        </p:nvSpPr>
        <p:spPr>
          <a:xfrm>
            <a:off x="3154680" y="3108960"/>
            <a:ext cx="164592" cy="164592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2"/>
          <p:cNvSpPr/>
          <p:nvPr/>
        </p:nvSpPr>
        <p:spPr>
          <a:xfrm>
            <a:off x="1097280" y="3456432"/>
            <a:ext cx="164592" cy="164592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2"/>
          <p:cNvSpPr/>
          <p:nvPr/>
        </p:nvSpPr>
        <p:spPr>
          <a:xfrm>
            <a:off x="1508760" y="3456432"/>
            <a:ext cx="164592" cy="164592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2"/>
          <p:cNvSpPr/>
          <p:nvPr/>
        </p:nvSpPr>
        <p:spPr>
          <a:xfrm>
            <a:off x="1920240" y="3456432"/>
            <a:ext cx="164592" cy="164592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2"/>
          <p:cNvSpPr/>
          <p:nvPr/>
        </p:nvSpPr>
        <p:spPr>
          <a:xfrm>
            <a:off x="2331720" y="3456432"/>
            <a:ext cx="164592" cy="164592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2"/>
          <p:cNvSpPr/>
          <p:nvPr/>
        </p:nvSpPr>
        <p:spPr>
          <a:xfrm>
            <a:off x="2743200" y="3456432"/>
            <a:ext cx="164592" cy="164592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2"/>
          <p:cNvSpPr/>
          <p:nvPr/>
        </p:nvSpPr>
        <p:spPr>
          <a:xfrm>
            <a:off x="3154680" y="3456432"/>
            <a:ext cx="164592" cy="164592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2"/>
          <p:cNvSpPr/>
          <p:nvPr/>
        </p:nvSpPr>
        <p:spPr>
          <a:xfrm>
            <a:off x="1097280" y="3803904"/>
            <a:ext cx="164592" cy="164592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2"/>
          <p:cNvSpPr/>
          <p:nvPr/>
        </p:nvSpPr>
        <p:spPr>
          <a:xfrm>
            <a:off x="1508760" y="3803904"/>
            <a:ext cx="164592" cy="164592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2"/>
          <p:cNvSpPr/>
          <p:nvPr/>
        </p:nvSpPr>
        <p:spPr>
          <a:xfrm>
            <a:off x="1920240" y="3803904"/>
            <a:ext cx="164592" cy="164592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2331720" y="3803904"/>
            <a:ext cx="164592" cy="164592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743200" y="3803904"/>
            <a:ext cx="164592" cy="164592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3154680" y="3803904"/>
            <a:ext cx="164592" cy="164592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6400800" y="18288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Roboto Medium"/>
              <a:buNone/>
            </a:pPr>
            <a:r>
              <a:rPr b="0" i="0" lang="en-US" sz="2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Network model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6400800" y="2240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infection moves only along edges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3" name="Google Shape;443;p22"/>
          <p:cNvCxnSpPr/>
          <p:nvPr/>
        </p:nvCxnSpPr>
        <p:spPr>
          <a:xfrm flipH="1" rot="10800000">
            <a:off x="7577721" y="2781787"/>
            <a:ext cx="681966" cy="123994"/>
          </a:xfrm>
          <a:prstGeom prst="straightConnector1">
            <a:avLst/>
          </a:prstGeom>
          <a:noFill/>
          <a:ln cap="flat" cmpd="sng" w="12700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" name="Google Shape;444;p22"/>
          <p:cNvCxnSpPr/>
          <p:nvPr/>
        </p:nvCxnSpPr>
        <p:spPr>
          <a:xfrm>
            <a:off x="8571719" y="2819887"/>
            <a:ext cx="614210" cy="276395"/>
          </a:xfrm>
          <a:prstGeom prst="straightConnector1">
            <a:avLst/>
          </a:prstGeom>
          <a:noFill/>
          <a:ln cap="flat" cmpd="sng" w="12700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5" name="Google Shape;445;p22"/>
          <p:cNvCxnSpPr/>
          <p:nvPr/>
        </p:nvCxnSpPr>
        <p:spPr>
          <a:xfrm flipH="1">
            <a:off x="8027728" y="2904275"/>
            <a:ext cx="330591" cy="793418"/>
          </a:xfrm>
          <a:prstGeom prst="straightConnector1">
            <a:avLst/>
          </a:prstGeom>
          <a:noFill/>
          <a:ln cap="flat" cmpd="sng" w="12700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22"/>
          <p:cNvCxnSpPr/>
          <p:nvPr/>
        </p:nvCxnSpPr>
        <p:spPr>
          <a:xfrm>
            <a:off x="8124102" y="3889543"/>
            <a:ext cx="777925" cy="194481"/>
          </a:xfrm>
          <a:prstGeom prst="straightConnector1">
            <a:avLst/>
          </a:prstGeom>
          <a:noFill/>
          <a:ln cap="flat" cmpd="sng" w="12700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22"/>
          <p:cNvCxnSpPr/>
          <p:nvPr/>
        </p:nvCxnSpPr>
        <p:spPr>
          <a:xfrm>
            <a:off x="9471655" y="3257070"/>
            <a:ext cx="460259" cy="316428"/>
          </a:xfrm>
          <a:prstGeom prst="straightConnector1">
            <a:avLst/>
          </a:prstGeom>
          <a:noFill/>
          <a:ln cap="flat" cmpd="sng" w="12700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p22"/>
          <p:cNvCxnSpPr/>
          <p:nvPr/>
        </p:nvCxnSpPr>
        <p:spPr>
          <a:xfrm flipH="1" rot="10800000">
            <a:off x="9211543" y="3734852"/>
            <a:ext cx="706162" cy="320983"/>
          </a:xfrm>
          <a:prstGeom prst="straightConnector1">
            <a:avLst/>
          </a:prstGeom>
          <a:noFill/>
          <a:ln cap="flat" cmpd="sng" w="12700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" name="Google Shape;449;p22"/>
          <p:cNvCxnSpPr/>
          <p:nvPr/>
        </p:nvCxnSpPr>
        <p:spPr>
          <a:xfrm flipH="1">
            <a:off x="7300052" y="3893676"/>
            <a:ext cx="505785" cy="140496"/>
          </a:xfrm>
          <a:prstGeom prst="straightConnector1">
            <a:avLst/>
          </a:prstGeom>
          <a:noFill/>
          <a:ln cap="flat" cmpd="sng" w="12700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p22"/>
          <p:cNvCxnSpPr/>
          <p:nvPr/>
        </p:nvCxnSpPr>
        <p:spPr>
          <a:xfrm flipH="1">
            <a:off x="7179876" y="3095271"/>
            <a:ext cx="197497" cy="822906"/>
          </a:xfrm>
          <a:prstGeom prst="straightConnector1">
            <a:avLst/>
          </a:prstGeom>
          <a:noFill/>
          <a:ln cap="flat" cmpd="sng" w="12700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22"/>
          <p:cNvSpPr/>
          <p:nvPr/>
        </p:nvSpPr>
        <p:spPr>
          <a:xfrm>
            <a:off x="7315200" y="2834640"/>
            <a:ext cx="201168" cy="201168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2"/>
          <p:cNvSpPr/>
          <p:nvPr/>
        </p:nvSpPr>
        <p:spPr>
          <a:xfrm>
            <a:off x="8321040" y="2651760"/>
            <a:ext cx="201168" cy="201168"/>
          </a:xfrm>
          <a:prstGeom prst="ellipse">
            <a:avLst/>
          </a:prstGeom>
          <a:solidFill>
            <a:srgbClr val="D94B3D"/>
          </a:solidFill>
          <a:ln cap="flat" cmpd="sng" w="12700">
            <a:solidFill>
              <a:srgbClr val="D94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2"/>
          <p:cNvSpPr/>
          <p:nvPr/>
        </p:nvSpPr>
        <p:spPr>
          <a:xfrm>
            <a:off x="9235440" y="3063240"/>
            <a:ext cx="201168" cy="201168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2"/>
          <p:cNvSpPr/>
          <p:nvPr/>
        </p:nvSpPr>
        <p:spPr>
          <a:xfrm>
            <a:off x="7863840" y="3749040"/>
            <a:ext cx="201168" cy="201168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2"/>
          <p:cNvSpPr/>
          <p:nvPr/>
        </p:nvSpPr>
        <p:spPr>
          <a:xfrm>
            <a:off x="8961120" y="4023360"/>
            <a:ext cx="201168" cy="201168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2"/>
          <p:cNvSpPr/>
          <p:nvPr/>
        </p:nvSpPr>
        <p:spPr>
          <a:xfrm>
            <a:off x="9966960" y="3566160"/>
            <a:ext cx="201168" cy="201168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2"/>
          <p:cNvSpPr/>
          <p:nvPr/>
        </p:nvSpPr>
        <p:spPr>
          <a:xfrm>
            <a:off x="7040880" y="3977640"/>
            <a:ext cx="201168" cy="201168"/>
          </a:xfrm>
          <a:prstGeom prst="ellipse">
            <a:avLst/>
          </a:prstGeom>
          <a:solidFill>
            <a:srgbClr val="74B96B"/>
          </a:solidFill>
          <a:ln cap="flat" cmpd="sng" w="12700">
            <a:solidFill>
              <a:srgbClr val="74B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3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NETWORK EPIDEMICS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23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23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5" name="Google Shape;465;p23"/>
          <p:cNvCxnSpPr/>
          <p:nvPr/>
        </p:nvCxnSpPr>
        <p:spPr>
          <a:xfrm>
            <a:off x="594360" y="6473952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6" name="Google Shape;466;p23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Why networks change the epidemic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23"/>
          <p:cNvSpPr/>
          <p:nvPr/>
        </p:nvSpPr>
        <p:spPr>
          <a:xfrm>
            <a:off x="868680" y="1828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Roboto Medium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Degree k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23"/>
          <p:cNvSpPr/>
          <p:nvPr/>
        </p:nvSpPr>
        <p:spPr>
          <a:xfrm>
            <a:off x="868680" y="222199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number of contacts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p23"/>
          <p:cNvSpPr/>
          <p:nvPr/>
        </p:nvSpPr>
        <p:spPr>
          <a:xfrm>
            <a:off x="5989320" y="1828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Roboto Medium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Hubs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23"/>
          <p:cNvSpPr/>
          <p:nvPr/>
        </p:nvSpPr>
        <p:spPr>
          <a:xfrm>
            <a:off x="5989320" y="222199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individuals with many contacts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23"/>
          <p:cNvSpPr/>
          <p:nvPr/>
        </p:nvSpPr>
        <p:spPr>
          <a:xfrm>
            <a:off x="868680" y="3246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Roboto Medium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Clustering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" name="Google Shape;472;p23"/>
          <p:cNvSpPr/>
          <p:nvPr/>
        </p:nvSpPr>
        <p:spPr>
          <a:xfrm>
            <a:off x="868680" y="36393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friends of friends are connected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23"/>
          <p:cNvSpPr/>
          <p:nvPr/>
        </p:nvSpPr>
        <p:spPr>
          <a:xfrm>
            <a:off x="5989320" y="3246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Roboto Medium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Components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23"/>
          <p:cNvSpPr/>
          <p:nvPr/>
        </p:nvSpPr>
        <p:spPr>
          <a:xfrm>
            <a:off x="5989320" y="36393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epidemic may not reach everyone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23"/>
          <p:cNvSpPr/>
          <p:nvPr/>
        </p:nvSpPr>
        <p:spPr>
          <a:xfrm>
            <a:off x="868680" y="5074920"/>
            <a:ext cx="9784080" cy="685800"/>
          </a:xfrm>
          <a:prstGeom prst="roundRect">
            <a:avLst>
              <a:gd fmla="val 10667" name="adj"/>
            </a:avLst>
          </a:prstGeom>
          <a:solidFill>
            <a:srgbClr val="F5F5F3"/>
          </a:solidFill>
          <a:ln cap="flat" cmpd="sng" w="12700">
            <a:solidFill>
              <a:srgbClr val="F5F5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3"/>
          <p:cNvSpPr/>
          <p:nvPr/>
        </p:nvSpPr>
        <p:spPr>
          <a:xfrm>
            <a:off x="1033272" y="5239512"/>
            <a:ext cx="94548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Same average R₀ can produce different outbreaks if contact heterogeneity differs.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4"/>
          <p:cNvSpPr/>
          <p:nvPr/>
        </p:nvSpPr>
        <p:spPr>
          <a:xfrm>
            <a:off x="594360" y="20116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NETWORK THRESHOLD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24"/>
          <p:cNvSpPr/>
          <p:nvPr/>
        </p:nvSpPr>
        <p:spPr>
          <a:xfrm>
            <a:off x="11201400" y="16459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24</a:t>
            </a:r>
            <a:endParaRPr b="0" i="0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4" name="Google Shape;484;p24"/>
          <p:cNvCxnSpPr/>
          <p:nvPr/>
        </p:nvCxnSpPr>
        <p:spPr>
          <a:xfrm>
            <a:off x="594360" y="6473952"/>
            <a:ext cx="10972800" cy="0"/>
          </a:xfrm>
          <a:prstGeom prst="straightConnector1">
            <a:avLst/>
          </a:prstGeom>
          <a:noFill/>
          <a:ln cap="flat" cmpd="sng" w="9525">
            <a:solidFill>
              <a:srgbClr val="D9D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5" name="Google Shape;485;p24"/>
          <p:cNvSpPr/>
          <p:nvPr/>
        </p:nvSpPr>
        <p:spPr>
          <a:xfrm>
            <a:off x="594360" y="68580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Roboto Medium"/>
              <a:buNone/>
            </a:pPr>
            <a:r>
              <a:rPr b="0" i="0" lang="en-US" sz="30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Heterogeneity lowers the epidemic threshold</a:t>
            </a:r>
            <a:endParaRPr b="0"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868680" y="1874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ambria Math"/>
              <a:buNone/>
            </a:pPr>
            <a:r>
              <a:rPr b="0" i="0" lang="en-US" sz="2400" u="none" cap="none" strike="noStrike">
                <a:solidFill>
                  <a:srgbClr val="111111"/>
                </a:solidFill>
                <a:latin typeface="Cambria Math"/>
                <a:ea typeface="Cambria Math"/>
                <a:cs typeface="Cambria Math"/>
                <a:sym typeface="Cambria Math"/>
              </a:rPr>
              <a:t>network threshold depends on degree moments</a:t>
            </a:r>
            <a:endParaRPr b="0" i="0" sz="2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24"/>
          <p:cNvSpPr/>
          <p:nvPr/>
        </p:nvSpPr>
        <p:spPr>
          <a:xfrm>
            <a:off x="868680" y="283464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ambria Math"/>
              <a:buNone/>
            </a:pPr>
            <a:r>
              <a:rPr b="0" i="0" lang="en-US" sz="2400" u="none" cap="none" strike="noStrike">
                <a:solidFill>
                  <a:srgbClr val="111111"/>
                </a:solidFill>
                <a:latin typeface="Cambria Math"/>
                <a:ea typeface="Cambria Math"/>
                <a:cs typeface="Cambria Math"/>
                <a:sym typeface="Cambria Math"/>
              </a:rPr>
              <a:t>roughly: higher ⟨k²⟩ / ⟨k⟩ → easier spread</a:t>
            </a:r>
            <a:endParaRPr b="0" i="0" sz="2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24"/>
          <p:cNvSpPr/>
          <p:nvPr/>
        </p:nvSpPr>
        <p:spPr>
          <a:xfrm>
            <a:off x="6949440" y="18745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Roboto Medium"/>
              <a:buNone/>
            </a:pPr>
            <a:r>
              <a:rPr b="0" i="0" lang="en-US" sz="2100" u="none" cap="none" strike="noStrike">
                <a:solidFill>
                  <a:srgbClr val="11111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Intuition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24"/>
          <p:cNvSpPr/>
          <p:nvPr/>
        </p:nvSpPr>
        <p:spPr>
          <a:xfrm>
            <a:off x="6949440" y="233172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Hubs are both more likely to get infected and more likely to infect others.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24"/>
          <p:cNvSpPr/>
          <p:nvPr/>
        </p:nvSpPr>
        <p:spPr>
          <a:xfrm>
            <a:off x="868680" y="4846320"/>
            <a:ext cx="9966960" cy="685800"/>
          </a:xfrm>
          <a:prstGeom prst="roundRect">
            <a:avLst>
              <a:gd fmla="val 10667" name="adj"/>
            </a:avLst>
          </a:prstGeom>
          <a:solidFill>
            <a:srgbClr val="F5F5F3"/>
          </a:solidFill>
          <a:ln cap="flat" cmpd="sng" w="12700">
            <a:solidFill>
              <a:srgbClr val="F5F5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4"/>
          <p:cNvSpPr/>
          <p:nvPr/>
        </p:nvSpPr>
        <p:spPr>
          <a:xfrm>
            <a:off x="1033272" y="5010912"/>
            <a:ext cx="96377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This is why targeted vaccination or targeted contact reduction can be powerful.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2026-08-31T15:23:57Z</dcterms:created>
  <dc:creator>OpenAI</dc:creator>
</cp:coreProperties>
</file>